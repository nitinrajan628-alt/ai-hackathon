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Q2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208.0</c:v>
                </c:pt>
                <c:pt idx="1">
                  <c:v>142.0</c:v>
                </c:pt>
                <c:pt idx="2">
                  <c:v>150.0</c:v>
                </c:pt>
                <c:pt idx="3">
                  <c:v>98.0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Q1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204.0</c:v>
                </c:pt>
                <c:pt idx="1">
                  <c:v>141.0</c:v>
                </c:pt>
                <c:pt idx="2">
                  <c:v>149.0</c:v>
                </c:pt>
                <c:pt idx="3">
                  <c:v>98.0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Movement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1.0</c:v>
                </c:pt>
                <c:pt idx="2">
                  <c:v>1.0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Q2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504.9</c:v>
                </c:pt>
                <c:pt idx="1">
                  <c:v>1139.6</c:v>
                </c:pt>
                <c:pt idx="2">
                  <c:v>1021.1</c:v>
                </c:pt>
                <c:pt idx="3">
                  <c:v>302.5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Q1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482.7</c:v>
                </c:pt>
                <c:pt idx="1">
                  <c:v>1103.2</c:v>
                </c:pt>
                <c:pt idx="2">
                  <c:v>977.1</c:v>
                </c:pt>
                <c:pt idx="3">
                  <c:v>290.5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Q2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7.0</c:v>
                </c:pt>
                <c:pt idx="1">
                  <c:v>9.0</c:v>
                </c:pt>
                <c:pt idx="2">
                  <c:v>11.5</c:v>
                </c:pt>
                <c:pt idx="3">
                  <c:v>14.7</c:v>
                </c:pt>
                <c:pt idx="4">
                  <c:v>22.8</c:v>
                </c:pt>
                <c:pt idx="5">
                  <c:v>28.9</c:v>
                </c:pt>
                <c:pt idx="6">
                  <c:v>38.5</c:v>
                </c:pt>
                <c:pt idx="7">
                  <c:v>47.9</c:v>
                </c:pt>
                <c:pt idx="8">
                  <c:v>27.7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Q1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7.7</c:v>
                </c:pt>
                <c:pt idx="1">
                  <c:v>9.8</c:v>
                </c:pt>
                <c:pt idx="2">
                  <c:v>12.5</c:v>
                </c:pt>
                <c:pt idx="3">
                  <c:v>16.0</c:v>
                </c:pt>
                <c:pt idx="4">
                  <c:v>23.6</c:v>
                </c:pt>
                <c:pt idx="5">
                  <c:v>29.9</c:v>
                </c:pt>
                <c:pt idx="6">
                  <c:v>39.8</c:v>
                </c:pt>
                <c:pt idx="7">
                  <c:v>49.5</c:v>
                </c:pt>
                <c:pt idx="8">
                  <c:v>15.1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Q2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Sheet1!$A$2:$A$4</c:f>
              <c:strCache>
                <c:ptCount val="3"/>
                <c:pt idx="0">
                  <c:v>Commercial</c:v>
                </c:pt>
                <c:pt idx="1">
                  <c:v>Specialty</c:v>
                </c:pt>
                <c:pt idx="2">
                  <c:v>Retail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268.7</c:v>
                </c:pt>
                <c:pt idx="1">
                  <c:v>167.5</c:v>
                </c:pt>
                <c:pt idx="2">
                  <c:v>161.8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5C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2025 Q2</a:t>
            </a:r>
          </a:p>
          <a:p>
            <a:pPr>
              <a:defRPr sz="3600" b="0">
                <a:solidFill>
                  <a:srgbClr val="BBD4F0"/>
                </a:solidFill>
                <a:latin typeface="Segoe UI"/>
              </a:defRPr>
            </a:pPr>
            <a:r>
              <a:t>Reserve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4F0"/>
                </a:solidFill>
                <a:latin typeface="Segoe UI"/>
              </a:defRPr>
            </a:pPr>
            <a:r>
              <a:t>Quarterly actuarial reserve review</a:t>
            </a:r>
          </a:p>
          <a:p>
            <a:pPr>
              <a:defRPr sz="1300">
                <a:solidFill>
                  <a:srgbClr val="BBD4F0"/>
                </a:solidFill>
                <a:latin typeface="Segoe UI"/>
              </a:defRPr>
            </a:pPr>
            <a:r>
              <a:t>Valuation date: 2025-06-30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Quarterly actuarial reserve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7278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4438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UK; Demo Insurance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Valuation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2025-06-30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4554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4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4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reserves increased GBP 6m to GBP 598m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598m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Quarterly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+GBP 6m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Ultimate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3,566.1m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principal increases were Casualty +GBP 4m and Property +GBP 1m.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No projection-method selections changed this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Selected Casualty assumptions have begun to respond to emerging experience; the overall movement remains manageable.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Overall Reserve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598m against GBP 592m at 2025 Q1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 quarter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142.0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598.0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592.0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 Movement in the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Reserves moved from GBP 592m at 2025 Q1 to GBP 598m, a movement of +GBP 6m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Reserving Class Commentary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Principal class movements 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Casualty: strengthened GBP 4m. Deterioration in accident years 2022 to 2024 is increasingly visible; assumptions are responding.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Property: strengthened GBP 1m. Experience is within expectation; catastrophe exposure is monitored seasonally.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Motor: strengthened GBP 1m. Frequency and severity trends remain within expectation.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Marine: broadly flat in the quarter.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Claims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Cumulative paid claims of GBP 2,968.1m, +GBP 114.6m versus the prior quarter (2025 Q1)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Q2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Q1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Change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504.9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482.7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22.2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1,139.6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1,103.2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36.4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1,021.1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977.1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44.0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302.5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290.5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12.0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3375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Assumption and Methodology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No projection-method changes since 2025 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Casualty claims inflation assumption moved from 3.5% to 4.0%.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CLASS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Casualty Reserve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Casualty reserve of GBP 208m, +GBP 4m in the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519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Accident years 2023 to 2025 contribute +GBP 9.6m of the +GBP 4m movement.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largest single accident-year movement is 2025 at +GBP 12.6m.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Deterioration in accident years 2022 to 2024 is increasingly visible; assumptions are responding.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LARGE AND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Large and Cat Loss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Large and Cat reserves of GBP 246m, +GBP 2.5m in the quarter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8229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97.0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38.8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26.9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31.5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36.5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97764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Large: +GBP 1.9m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 Large: +GBP 0.3m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 Large: +GBP 0.2m in the quarter.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ALTERNATIVE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Reserves by Business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598m by Business Unit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Business Unit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Q2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Q1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Specialty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167.5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165.9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Retail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01752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same reserves can be aggregated by Reserving Class, Finance Class, Region, Business Unit, Loss Type, Entity or Accident Year; Business Unit is shown here as the management view for this quarter.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UNCERTAINTIES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Key Uncertainties and Areas of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Qualitative areas of focus from the actuarial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1. Selected Casualty loss ratios and the inflation assumption have been raised in response to emerging experience; further adverse emergence would require additional strengthening.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2. Large loss activity in Property is marginally elevated and is being monitored ahead of the windstorm season.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3. Premium growth assumptions for the current accident year remain on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Conclusion and Next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 conclusion and forward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Casualty assumptions have been updated in response to emerging experience. The overall reserve movement remains manageable.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This review has been prepared by the actuarial function for management and Board use. Selections reflect actuarial judgement applied to the data available at the valuation date; they will be reassessed at the next quarterly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598m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Q2 Reserve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