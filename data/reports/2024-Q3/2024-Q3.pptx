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Q3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196.0</c:v>
                </c:pt>
                <c:pt idx="1">
                  <c:v>138.0</c:v>
                </c:pt>
                <c:pt idx="2">
                  <c:v>148.0</c:v>
                </c:pt>
                <c:pt idx="3">
                  <c:v>98.0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Q3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Sheet1!$A$2:$A$4</c:f>
              <c:strCache>
                <c:ptCount val="3"/>
                <c:pt idx="0">
                  <c:v>Attritional</c:v>
                </c:pt>
                <c:pt idx="1">
                  <c:v>Large</c:v>
                </c:pt>
                <c:pt idx="2">
                  <c:v>Cat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341.9</c:v>
                </c:pt>
                <c:pt idx="1">
                  <c:v>196.7</c:v>
                </c:pt>
                <c:pt idx="2">
                  <c:v>41.4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Q3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Sheet1!$A$2:$A$9</c:f>
              <c:strCache>
                <c:ptCount val="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9.2</c:v>
                </c:pt>
                <c:pt idx="1">
                  <c:v>11.8</c:v>
                </c:pt>
                <c:pt idx="2">
                  <c:v>15.1</c:v>
                </c:pt>
                <c:pt idx="3">
                  <c:v>19.3</c:v>
                </c:pt>
                <c:pt idx="4">
                  <c:v>25.4</c:v>
                </c:pt>
                <c:pt idx="5">
                  <c:v>32.2</c:v>
                </c:pt>
                <c:pt idx="6">
                  <c:v>42.9</c:v>
                </c:pt>
                <c:pt idx="7">
                  <c:v>40.0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Q3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Sheet1!$A$2:$A$4</c:f>
              <c:strCache>
                <c:ptCount val="3"/>
                <c:pt idx="0">
                  <c:v>UK and Ireland</c:v>
                </c:pt>
                <c:pt idx="1">
                  <c:v>Continental Europe</c:v>
                </c:pt>
                <c:pt idx="2">
                  <c:v>International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276.6</c:v>
                </c:pt>
                <c:pt idx="1">
                  <c:v>197.2</c:v>
                </c:pt>
                <c:pt idx="2">
                  <c:v>106.2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5C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2024 Q3</a:t>
            </a:r>
          </a:p>
          <a:p>
            <a:pPr>
              <a:defRPr sz="3600" b="0">
                <a:solidFill>
                  <a:srgbClr val="BBD4F0"/>
                </a:solidFill>
                <a:latin typeface="Segoe UI"/>
              </a:defRPr>
            </a:pPr>
            <a:r>
              <a:t>Reserve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4F0"/>
                </a:solidFill>
                <a:latin typeface="Segoe UI"/>
              </a:defRPr>
            </a:pPr>
            <a:r>
              <a:t>Quarterly actuarial reserve review</a:t>
            </a:r>
          </a:p>
          <a:p>
            <a:pPr>
              <a:defRPr sz="1300">
                <a:solidFill>
                  <a:srgbClr val="BBD4F0"/>
                </a:solidFill>
                <a:latin typeface="Segoe UI"/>
              </a:defRPr>
            </a:pPr>
            <a:r>
              <a:t>Valuation date: 2024-09-30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2024 Q3 Reserve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Quarterly actuarial reserve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7278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4438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4438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UK; Demo Insurance Europe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3076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Valuation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2024-09-30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4554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1714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1714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Q3 Reserve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reserves stand at GBP 580m at the valuation 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580m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Ultimate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3,207.8m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Reviews in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1 of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Reserves by class: Casualty GBP 196m; Motor GBP 148m; Property GBP 138m; Marine GBP 98m.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This is the first review in the packaged library; comparative movements will be shown from next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Early signs of pressure in recent Casualty accident years are being monitored, although Casualty is not yet a dominant theme.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Q3 Reserve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Overall Reserve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580m across four reserving classes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Current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196.0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138.0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148.0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98.0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580.0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65760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Q3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 Composition by Loss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Composition shown in place of quarterly movement for the first packaged review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5486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Loss Type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341.9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196.7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41.4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01752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Q3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Reserving Class Commentary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Principal class movements and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Casualty: reserve of GBP 196m. Attritional emergence in recent accident years is marginally above expectation and remains under observation.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Property: reserve of GBP 138m. Experience is within expectation; catastrophe exposure is monitored seasonally.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Motor: reserve of GBP 148m. Frequency and severity trends remain within expectation.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Marine: reserve of GBP 98m. Experience remains volatile but within the reserved position.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Q3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Claims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Cumulative paid claims of GBP 2,627.8m on the latest diagonal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2024 Q3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440.3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1,030.0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889.8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267.7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Q3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Assumption and Methodology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Assumption basis summarised; no prior packaged review for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8229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Projection Method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Selections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Expected Loss Ratio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897880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Assumption selections are made at Entity, Reserving Class, Loss Type and Accident Year.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Q3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CLASS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Casualty Reserve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Casualty reserve of GBP 196m by accident year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251960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Attritional emergence in recent accident years is marginally above expectation and remains under observation.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Q3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LARGE AND 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Large and Cat Loss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Large and Cat reserves of GBP 238.1m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8229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Loss Type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91.4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37.7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26.2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31.1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36.5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15.2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977640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Large and Cat experience is within expectation this quarter.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Q3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ALTERNATIVE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Reserves by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580m by Region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5486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2024 Q3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UK and Ireland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276.6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Continental Europe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197.2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International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106.2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01752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6072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The same reserves can be aggregated by Reserving Class, Finance Class, Region, Business Unit, Loss Type, Entity or Accident Year; Region is shown here as the management view for this quarter.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Q3 Reserve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UNCERTAINTIES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Key Uncertainties and Areas of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Qualitative areas of focus from the actuarial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1. Recent Casualty accident years are immature and small changes in reported experience could move selected ultimates in either direction.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2. Claims inflation remains above long-term averages and continues to be monitored against the assumptions adopted in this review.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3. Large loss frequency has been within expectation, but individual case development remains a source of volatility for Property and Marine.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Q3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Conclusion and Next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Overall reserve conclusion and forward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The reserve position is broadly stable this quarter. Recent Casualty accident years will be watched closely at the next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This review has been prepared by the actuarial function for management and Board use. Selections reflect actuarial judgement applied to the data available at the valuation date; they will be reassessed at the next quarterly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580m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Q3 Reserve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