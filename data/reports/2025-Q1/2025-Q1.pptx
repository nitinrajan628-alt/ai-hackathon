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Q1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204.0</c:v>
                </c:pt>
                <c:pt idx="1">
                  <c:v>141.0</c:v>
                </c:pt>
                <c:pt idx="2">
                  <c:v>149.0</c:v>
                </c:pt>
                <c:pt idx="3">
                  <c:v>98.0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 Q4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199.0</c:v>
                </c:pt>
                <c:pt idx="1">
                  <c:v>139.0</c:v>
                </c:pt>
                <c:pt idx="2">
                  <c:v>149.0</c:v>
                </c:pt>
                <c:pt idx="3">
                  <c:v>98.0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Movement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5.0</c:v>
                </c:pt>
                <c:pt idx="1">
                  <c:v>2.0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Q1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482.7</c:v>
                </c:pt>
                <c:pt idx="1">
                  <c:v>1103.2</c:v>
                </c:pt>
                <c:pt idx="2">
                  <c:v>977.1</c:v>
                </c:pt>
                <c:pt idx="3">
                  <c:v>290.5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 Q4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458.7</c:v>
                </c:pt>
                <c:pt idx="1">
                  <c:v>1060.6</c:v>
                </c:pt>
                <c:pt idx="2">
                  <c:v>923.8</c:v>
                </c:pt>
                <c:pt idx="3">
                  <c:v>277.2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Q1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Sheet1!$A$2:$A$10</c:f>
              <c:strCach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7.7</c:v>
                </c:pt>
                <c:pt idx="1">
                  <c:v>9.8</c:v>
                </c:pt>
                <c:pt idx="2">
                  <c:v>12.5</c:v>
                </c:pt>
                <c:pt idx="3">
                  <c:v>16.0</c:v>
                </c:pt>
                <c:pt idx="4">
                  <c:v>23.6</c:v>
                </c:pt>
                <c:pt idx="5">
                  <c:v>29.9</c:v>
                </c:pt>
                <c:pt idx="6">
                  <c:v>39.8</c:v>
                </c:pt>
                <c:pt idx="7">
                  <c:v>49.5</c:v>
                </c:pt>
                <c:pt idx="8">
                  <c:v>15.1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 Q4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Sheet1!$A$2:$A$10</c:f>
              <c:strCach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8.5</c:v>
                </c:pt>
                <c:pt idx="1">
                  <c:v>10.9</c:v>
                </c:pt>
                <c:pt idx="2">
                  <c:v>14.0</c:v>
                </c:pt>
                <c:pt idx="3">
                  <c:v>18.7</c:v>
                </c:pt>
                <c:pt idx="4">
                  <c:v>24.6</c:v>
                </c:pt>
                <c:pt idx="5">
                  <c:v>31.3</c:v>
                </c:pt>
                <c:pt idx="6">
                  <c:v>41.6</c:v>
                </c:pt>
                <c:pt idx="7">
                  <c:v>49.3</c:v>
                </c:pt>
                <c:pt idx="8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Q1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Sheet1!$A$2:$A$4</c:f>
              <c:strCache>
                <c:ptCount val="3"/>
                <c:pt idx="0">
                  <c:v>UK and Ireland</c:v>
                </c:pt>
                <c:pt idx="1">
                  <c:v>Continental Europe</c:v>
                </c:pt>
                <c:pt idx="2">
                  <c:v>International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282.0</c:v>
                </c:pt>
                <c:pt idx="1">
                  <c:v>201.6</c:v>
                </c:pt>
                <c:pt idx="2">
                  <c:v>108.4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5C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DEMO INSURANCE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2025 Q1</a:t>
            </a:r>
          </a:p>
          <a:p>
            <a:pPr>
              <a:defRPr sz="3600" b="0">
                <a:solidFill>
                  <a:srgbClr val="BBD4F0"/>
                </a:solidFill>
                <a:latin typeface="Segoe UI"/>
              </a:defRPr>
            </a:pPr>
            <a:r>
              <a:t>Reserve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BD4F0"/>
                </a:solidFill>
                <a:latin typeface="Segoe UI"/>
              </a:defRPr>
            </a:pPr>
            <a:r>
              <a:t>Quarterly actuarial reserve review</a:t>
            </a:r>
          </a:p>
          <a:p>
            <a:pPr>
              <a:defRPr sz="1300">
                <a:solidFill>
                  <a:srgbClr val="BBD4F0"/>
                </a:solidFill>
                <a:latin typeface="Segoe UI"/>
              </a:defRPr>
            </a:pPr>
            <a:r>
              <a:t>Valuation date: 2025-03-31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2025 Q1 Reserve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Quarterly actuarial reserve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Reporting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Demo Insurance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7278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4438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4438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Demo Insurance UK; Demo Insurance Europe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5916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3076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Valuation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2025-03-31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4554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1714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Reporting 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1714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Q1 Reserve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Overall reserves increased GBP 7m to GBP 592m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Total 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592m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Quarterly movement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+GBP 7m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Ultimate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3,445.5m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The principal increases were Casualty +GBP 5m and Property +GBP 2m.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40 projection-method selections changed since 2024 Q4, concentrated in Casualty and Marine and Motor and Property.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 deterioration is now more visible in recent accident years; claims emergence and uncertainty are highlighted more explicitly.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Q1 Reserve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Overall Reserve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Total reserve of GBP 592m against GBP 585m at 2024 Q4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Current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Prior quarter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199.0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141.0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139.0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98.0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98.0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592.0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585.0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7.0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65760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Q1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Reserve Movement in the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Reserves moved from GBP 585m at 2024 Q4 to GBP 592m, a movement of +GBP 7m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087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519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7.0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Q1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Reserving Class Commentary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Principal class movements and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Casualty: strengthened GBP 5m. Deterioration in accident years 2022 to 2024 is increasingly visible; assumptions are responding.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Property: strengthened GBP 2m. Experience is within expectation; catastrophe exposure is monitored seasonally.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Motor: broadly flat in the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Marine: broadly flat in the quarter.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Q1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Claims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Cumulative paid claims of GBP 2,853.5m, +GBP 133.2m versus the prior quarter (2024 Q4)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 Q1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2024 Q4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Change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482.7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458.7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24.0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1,103.2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1,060.6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42.6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977.1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923.8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53.3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290.5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277.2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13.3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3375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Q1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Assumption and Methodology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40 projection-method selections changed since 2024 Q4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91672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Loss Type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Accident Year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Previous method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Current method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Q1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CLASS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Casualty Reserve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Casualty reserve of GBP 204m, +GBP 5m in the quarter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087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25196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Accident years 2023 to 2025 contribute +GBP 13.5m of the +GBP 5m movement.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The largest single accident-year movement is 2025 at +GBP 15.1m.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Deterioration in accident years 2022 to 2024 is increasingly visible; assumptions are responding.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Q1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LARGE AND 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Large and Cat Loss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Large and Cat reserves of GBP 243.4m, +GBP 3.3m in the quarter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8229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Loss Type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Reserve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95.1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38.5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26.8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31.3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36.5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15.2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97764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 Large: +GBP 2.3m in the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Property Large: +GBP 0.5m in the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Property Cat: +GBP 0.4m in the quarter.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Q1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ALTERNATIVE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Reserves by 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Total reserve of GBP 592m by Region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 Q1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2024 Q4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UK and Ireland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282.0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279.0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3.1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Continental Europe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201.6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198.9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2.6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International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108.4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107.1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1.3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01752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76072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The same reserves can be aggregated by Reserving Class, Finance Class, Region, Business Unit, Loss Type, Entity or Accident Year; Region is shown here as the management view for this quarter.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Q1 Reserve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UNCERTAINTIES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Key Uncertainties and Areas of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Qualitative areas of focus from the actuarial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1. Casualty deterioration is now visible in accident years 2022 to 2024; the pace of emergence is the key uncertainty for the next two quarters.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2. The annual projection-method roll has moved maturing accident years to Chain Ladder; early diagonals for the new accident year rely on expected loss ratios.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3. Claims inflation remains a watch item for the longer-tailed classes.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Q1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Conclusion and Next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Overall reserve conclusion and forward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Casualty emergence is the principal theme of this review and has been reflected in modest strengthening of recent accident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This review has been prepared by the actuarial function for management and Board use. Selections reflect actuarial judgement applied to the data available at the valuation date; they will be reassessed at the next quarterly review.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Total 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592m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Q1 Reserve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