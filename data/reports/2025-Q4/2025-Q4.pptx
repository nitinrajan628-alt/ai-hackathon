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214.0</c:v>
                </c:pt>
                <c:pt idx="1">
                  <c:v>149.0</c:v>
                </c:pt>
                <c:pt idx="2">
                  <c:v>151.0</c:v>
                </c:pt>
                <c:pt idx="3">
                  <c:v>96.0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Q3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212.0</c:v>
                </c:pt>
                <c:pt idx="1">
                  <c:v>146.0</c:v>
                </c:pt>
                <c:pt idx="2">
                  <c:v>150.0</c:v>
                </c:pt>
                <c:pt idx="3">
                  <c:v>98.0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1.0</c:v>
                </c:pt>
                <c:pt idx="3">
                  <c:v>-2.0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544.5</c:v>
                </c:pt>
                <c:pt idx="1">
                  <c:v>1196.5</c:v>
                </c:pt>
                <c:pt idx="2">
                  <c:v>1087.4</c:v>
                </c:pt>
                <c:pt idx="3">
                  <c:v>322.9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458.7</c:v>
                </c:pt>
                <c:pt idx="1">
                  <c:v>1060.6</c:v>
                </c:pt>
                <c:pt idx="2">
                  <c:v>923.8</c:v>
                </c:pt>
                <c:pt idx="3">
                  <c:v>277.2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2.5</c:v>
                </c:pt>
                <c:pt idx="2">
                  <c:v>3.8</c:v>
                </c:pt>
                <c:pt idx="3">
                  <c:v>5.9</c:v>
                </c:pt>
                <c:pt idx="4">
                  <c:v>9.1</c:v>
                </c:pt>
                <c:pt idx="5">
                  <c:v>14.3</c:v>
                </c:pt>
                <c:pt idx="6">
                  <c:v>22.1</c:v>
                </c:pt>
                <c:pt idx="7">
                  <c:v>35.5</c:v>
                </c:pt>
                <c:pt idx="8">
                  <c:v>54.1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Q3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1.7</c:v>
                </c:pt>
                <c:pt idx="1">
                  <c:v>2.7</c:v>
                </c:pt>
                <c:pt idx="2">
                  <c:v>4.0</c:v>
                </c:pt>
                <c:pt idx="3">
                  <c:v>6.3</c:v>
                </c:pt>
                <c:pt idx="4">
                  <c:v>9.8</c:v>
                </c:pt>
                <c:pt idx="5">
                  <c:v>15.4</c:v>
                </c:pt>
                <c:pt idx="6">
                  <c:v>23.8</c:v>
                </c:pt>
                <c:pt idx="7">
                  <c:v>38.3</c:v>
                </c:pt>
                <c:pt idx="8">
                  <c:v>43.9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Commercial</c:v>
                </c:pt>
                <c:pt idx="1">
                  <c:v>Specialty</c:v>
                </c:pt>
                <c:pt idx="2">
                  <c:v>Retail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275.7</c:v>
                </c:pt>
                <c:pt idx="1">
                  <c:v>169.0</c:v>
                </c:pt>
                <c:pt idx="2">
                  <c:v>165.3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2025 Q4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2025-12-31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2025-12-31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4m to GBP 610m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610m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4m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3,761.2m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Property +GBP 3m and Casualty +GBP 2m.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 released GBP 2m following favourable development.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No projection-method selections changed this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Recent Casualty accident years remain a focus; Property large loss development continues while Marine shows favourable movement.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610m against GBP 606m at 2025 Q3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212.0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146.0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96.0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606.0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606m at 2025 Q3 to GBP 610m, a movement of +GBP 4m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-2.0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3m. Large loss development from the September windstorm events is the main driver.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2m. Recent accident years remain the principal focus; strengthening reflects sustained adverse emergence.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released GBP 2m. Favourable development has supported a measured release.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strengthened GBP 1m. Frequency and severity trends remain within expectation.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3,151.2m, +GBP 431m year-on-year (2024 Q4)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544.5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85.8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1,196.5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1,060.6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135.9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1,087.4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923.8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163.6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322.9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277.2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No projection-method changes since 2025 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Casualty claims inflation assumption moved from 4.0% to 4.5%.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 management loading of GBP 1.5m is held for Property Cat accident year 2025 (Demo Insurance UK).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Property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Property reserve of GBP 149m, +GBP 3m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2023 to 2025 contribute +GBP 5.7m of the +GBP 3m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2025 at +GBP 10.2m.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Large loss development from the September windstorm events is the main driver.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255.6m, +GBP 3m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45.1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28.3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35.8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Large: +GBP 2.4m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0.9m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 Large: -GBP 0.7m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Development on the September 2025 windstorm events is the principal large-loss theme this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Business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610m by Business Unit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Business Unit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169.5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-0.4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165.3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Business Unit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Recent Casualty accident years remain the dominant reserve uncertainty at the year end.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Property large loss development from the September events is maturing but not yet fully settled; the management loading has been retained.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Marine has shown favourable development; the release has been taken cautiously given historic volatility.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year-end position reflects continued Casualty focus, maturing Property large losses and a first favourable movement in Marine.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610m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2025 Q4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