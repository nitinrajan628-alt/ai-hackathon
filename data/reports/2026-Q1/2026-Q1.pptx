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2026 Q1</c:v>
                </c:pt>
              </c:strCache>
            </c:strRef>
          </c:tx>
          <c:spPr>
            <a:solidFill>
              <a:srgbClr val="1C5CAB"/>
            </a:solidFill>
          </c:spPr>
          <c:cat>
            <c:strRef>
              <c:f>Sheet1!$A$2:$A$5</c:f>
              <c:strCache>
                <c:ptCount val="4"/>
                <c:pt idx="0">
                  <c:v>Casualty</c:v>
                </c:pt>
                <c:pt idx="1">
                  <c:v>Property</c:v>
                </c:pt>
                <c:pt idx="2">
                  <c:v>Motor</c:v>
                </c:pt>
                <c:pt idx="3">
                  <c:v>Marine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220.0</c:v>
                </c:pt>
                <c:pt idx="1">
                  <c:v>150.0</c:v>
                </c:pt>
                <c:pt idx="2">
                  <c:v>150.0</c:v>
                </c:pt>
                <c:pt idx="3">
                  <c:v>94.0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 Q4</c:v>
                </c:pt>
              </c:strCache>
            </c:strRef>
          </c:tx>
          <c:spPr>
            <a:solidFill>
              <a:srgbClr val="2F8F4E"/>
            </a:solidFill>
          </c:spPr>
          <c:cat>
            <c:strRef>
              <c:f>Sheet1!$A$2:$A$5</c:f>
              <c:strCache>
                <c:ptCount val="4"/>
                <c:pt idx="0">
                  <c:v>Casualty</c:v>
                </c:pt>
                <c:pt idx="1">
                  <c:v>Property</c:v>
                </c:pt>
                <c:pt idx="2">
                  <c:v>Motor</c:v>
                </c:pt>
                <c:pt idx="3">
                  <c:v>Marine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214.0</c:v>
                </c:pt>
                <c:pt idx="1">
                  <c:v>149.0</c:v>
                </c:pt>
                <c:pt idx="2">
                  <c:v>151.0</c:v>
                </c:pt>
                <c:pt idx="3">
                  <c:v>96.0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3E2DB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3E2DB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E3E2DB"/>
            </a:solidFill>
          </a:ln>
        </c:spPr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Movement</c:v>
                </c:pt>
              </c:strCache>
            </c:strRef>
          </c:tx>
          <c:spPr>
            <a:solidFill>
              <a:srgbClr val="1C5CAB"/>
            </a:solidFill>
          </c:spPr>
          <c:cat>
            <c:strRef>
              <c:f>Sheet1!$A$2:$A$5</c:f>
              <c:strCache>
                <c:ptCount val="4"/>
                <c:pt idx="0">
                  <c:v>Casualty</c:v>
                </c:pt>
                <c:pt idx="1">
                  <c:v>Property</c:v>
                </c:pt>
                <c:pt idx="2">
                  <c:v>Motor</c:v>
                </c:pt>
                <c:pt idx="3">
                  <c:v>Marine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6.0</c:v>
                </c:pt>
                <c:pt idx="1">
                  <c:v>1.0</c:v>
                </c:pt>
                <c:pt idx="2">
                  <c:v>-1.0</c:v>
                </c:pt>
                <c:pt idx="3">
                  <c:v>-2.0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3E2DB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3E2DB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E3E2DB"/>
            </a:solidFill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2026 Q1</c:v>
                </c:pt>
              </c:strCache>
            </c:strRef>
          </c:tx>
          <c:spPr>
            <a:solidFill>
              <a:srgbClr val="1C5CAB"/>
            </a:solidFill>
          </c:spPr>
          <c:cat>
            <c:strRef>
              <c:f>Sheet1!$A$2:$A$5</c:f>
              <c:strCache>
                <c:ptCount val="4"/>
                <c:pt idx="0">
                  <c:v>Casualty</c:v>
                </c:pt>
                <c:pt idx="1">
                  <c:v>Property</c:v>
                </c:pt>
                <c:pt idx="2">
                  <c:v>Motor</c:v>
                </c:pt>
                <c:pt idx="3">
                  <c:v>Marine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564.1</c:v>
                </c:pt>
                <c:pt idx="1">
                  <c:v>1225.9</c:v>
                </c:pt>
                <c:pt idx="2">
                  <c:v>1122.2</c:v>
                </c:pt>
                <c:pt idx="3">
                  <c:v>333.9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 Q1</c:v>
                </c:pt>
              </c:strCache>
            </c:strRef>
          </c:tx>
          <c:spPr>
            <a:solidFill>
              <a:srgbClr val="2F8F4E"/>
            </a:solidFill>
          </c:spPr>
          <c:cat>
            <c:strRef>
              <c:f>Sheet1!$A$2:$A$5</c:f>
              <c:strCache>
                <c:ptCount val="4"/>
                <c:pt idx="0">
                  <c:v>Casualty</c:v>
                </c:pt>
                <c:pt idx="1">
                  <c:v>Property</c:v>
                </c:pt>
                <c:pt idx="2">
                  <c:v>Motor</c:v>
                </c:pt>
                <c:pt idx="3">
                  <c:v>Marine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482.7</c:v>
                </c:pt>
                <c:pt idx="1">
                  <c:v>1103.2</c:v>
                </c:pt>
                <c:pt idx="2">
                  <c:v>977.1</c:v>
                </c:pt>
                <c:pt idx="3">
                  <c:v>290.5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3E2DB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3E2DB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E3E2DB"/>
            </a:solidFill>
          </a:ln>
        </c:spPr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2026 Q1</c:v>
                </c:pt>
              </c:strCache>
            </c:strRef>
          </c:tx>
          <c:spPr>
            <a:solidFill>
              <a:srgbClr val="1C5CAB"/>
            </a:solidFill>
          </c:spPr>
          <c:cat>
            <c:strRef>
              <c:f>Sheet1!$A$2:$A$11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1.1</c:v>
                </c:pt>
                <c:pt idx="1">
                  <c:v>1.7</c:v>
                </c:pt>
                <c:pt idx="2">
                  <c:v>2.4</c:v>
                </c:pt>
                <c:pt idx="3">
                  <c:v>3.7</c:v>
                </c:pt>
                <c:pt idx="4">
                  <c:v>5.5</c:v>
                </c:pt>
                <c:pt idx="5">
                  <c:v>8.4</c:v>
                </c:pt>
                <c:pt idx="6">
                  <c:v>12.5</c:v>
                </c:pt>
                <c:pt idx="7">
                  <c:v>18.8</c:v>
                </c:pt>
                <c:pt idx="8">
                  <c:v>28.9</c:v>
                </c:pt>
                <c:pt idx="9">
                  <c:v>11.0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 Q4</c:v>
                </c:pt>
              </c:strCache>
            </c:strRef>
          </c:tx>
          <c:spPr>
            <a:solidFill>
              <a:srgbClr val="2F8F4E"/>
            </a:solidFill>
          </c:spPr>
          <c:cat>
            <c:strRef>
              <c:f>Sheet1!$A$2:$A$11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1.3</c:v>
                </c:pt>
                <c:pt idx="1">
                  <c:v>1.9</c:v>
                </c:pt>
                <c:pt idx="2">
                  <c:v>2.8</c:v>
                </c:pt>
                <c:pt idx="3">
                  <c:v>4.2</c:v>
                </c:pt>
                <c:pt idx="4">
                  <c:v>6.3</c:v>
                </c:pt>
                <c:pt idx="5">
                  <c:v>9.7</c:v>
                </c:pt>
                <c:pt idx="6">
                  <c:v>14.5</c:v>
                </c:pt>
                <c:pt idx="7">
                  <c:v>21.7</c:v>
                </c:pt>
                <c:pt idx="8">
                  <c:v>33.5</c:v>
                </c:pt>
                <c:pt idx="9">
                  <c:v>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3E2DB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3E2DB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E3E2DB"/>
            </a:solidFill>
          </a:ln>
        </c:spPr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2026 Q1</c:v>
                </c:pt>
              </c:strCache>
            </c:strRef>
          </c:tx>
          <c:spPr>
            <a:solidFill>
              <a:srgbClr val="1C5CAB"/>
            </a:solidFill>
          </c:spPr>
          <c:cat>
            <c:strRef>
              <c:f>Sheet1!$A$2:$A$4</c:f>
              <c:strCache>
                <c:ptCount val="3"/>
                <c:pt idx="0">
                  <c:v>Commercial</c:v>
                </c:pt>
                <c:pt idx="1">
                  <c:v>Specialty</c:v>
                </c:pt>
                <c:pt idx="2">
                  <c:v>Retail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279.0</c:v>
                </c:pt>
                <c:pt idx="1">
                  <c:v>170.0</c:v>
                </c:pt>
                <c:pt idx="2">
                  <c:v>165.0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3E2DB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3E2DB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E3E2DB"/>
            </a:solidFill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5CA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DEMO INSURANCE GROUP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Segoe UI"/>
              </a:defRPr>
            </a:pPr>
            <a:r>
              <a:t>2026 Q1</a:t>
            </a:r>
          </a:p>
          <a:p>
            <a:pPr>
              <a:defRPr sz="3600" b="0">
                <a:solidFill>
                  <a:srgbClr val="BBD4F0"/>
                </a:solidFill>
                <a:latin typeface="Segoe UI"/>
              </a:defRPr>
            </a:pPr>
            <a:r>
              <a:t>Reserve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BD4F0"/>
                </a:solidFill>
                <a:latin typeface="Segoe UI"/>
              </a:defRPr>
            </a:pPr>
            <a:r>
              <a:t>Quarterly actuarial reserve review</a:t>
            </a:r>
          </a:p>
          <a:p>
            <a:pPr>
              <a:defRPr sz="1300">
                <a:solidFill>
                  <a:srgbClr val="BBD4F0"/>
                </a:solidFill>
                <a:latin typeface="Segoe UI"/>
              </a:defRPr>
            </a:pPr>
            <a:r>
              <a:t>Valuation date: 2026-03-31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4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5CAB"/>
                </a:solidFill>
                <a:latin typeface="Segoe UI"/>
              </a:defRPr>
            </a:pPr>
            <a: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16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1412"/>
                </a:solidFill>
                <a:latin typeface="Segoe UI"/>
              </a:defRPr>
            </a:pPr>
            <a:r>
              <a:t>2026 Q1 Reserve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2514E"/>
                </a:solidFill>
                <a:latin typeface="Segoe UI"/>
              </a:defRPr>
            </a:pPr>
            <a:r>
              <a:t>Quarterly actuarial reserve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2727198" cy="914400"/>
          </a:xfrm>
          <a:prstGeom prst="rect">
            <a:avLst/>
          </a:prstGeom>
          <a:solidFill>
            <a:srgbClr val="E8EFF8"/>
          </a:solidFill>
          <a:ln w="6350">
            <a:solidFill>
              <a:srgbClr val="E3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249859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98781"/>
                </a:solidFill>
                <a:latin typeface="Segoe UI"/>
              </a:defRPr>
            </a:pPr>
            <a:r>
              <a:t>Reporting group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74520"/>
            <a:ext cx="249859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5CAB"/>
                </a:solidFill>
                <a:latin typeface="Segoe UI"/>
              </a:defRPr>
            </a:pPr>
            <a:r>
              <a:t>Demo Insurance Group</a:t>
            </a:r>
          </a:p>
        </p:txBody>
      </p:sp>
      <p:sp>
        <p:nvSpPr>
          <p:cNvPr id="9" name="Rectangle 8"/>
          <p:cNvSpPr/>
          <p:nvPr/>
        </p:nvSpPr>
        <p:spPr>
          <a:xfrm>
            <a:off x="3367278" y="1508760"/>
            <a:ext cx="2727198" cy="914400"/>
          </a:xfrm>
          <a:prstGeom prst="rect">
            <a:avLst/>
          </a:prstGeom>
          <a:solidFill>
            <a:srgbClr val="E8EFF8"/>
          </a:solidFill>
          <a:ln w="6350">
            <a:solidFill>
              <a:srgbClr val="E3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04438" y="1600200"/>
            <a:ext cx="249859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98781"/>
                </a:solidFill>
                <a:latin typeface="Segoe UI"/>
              </a:defRPr>
            </a:pPr>
            <a:r>
              <a:t>Entities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4438" y="1874520"/>
            <a:ext cx="249859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5CAB"/>
                </a:solidFill>
                <a:latin typeface="Segoe UI"/>
              </a:defRPr>
            </a:pPr>
            <a:r>
              <a:t>Demo Insurance UK; Demo Insurance Europe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85916" y="1508760"/>
            <a:ext cx="2727198" cy="914400"/>
          </a:xfrm>
          <a:prstGeom prst="rect">
            <a:avLst/>
          </a:prstGeom>
          <a:solidFill>
            <a:srgbClr val="E8EFF8"/>
          </a:solidFill>
          <a:ln w="6350">
            <a:solidFill>
              <a:srgbClr val="E3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3076" y="1600200"/>
            <a:ext cx="249859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98781"/>
                </a:solidFill>
                <a:latin typeface="Segoe UI"/>
              </a:defRPr>
            </a:pPr>
            <a:r>
              <a:t>Valuation 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3076" y="1874520"/>
            <a:ext cx="249859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5CAB"/>
                </a:solidFill>
                <a:latin typeface="Segoe UI"/>
              </a:defRPr>
            </a:pPr>
            <a:r>
              <a:t>2026-03-31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4554" y="1508760"/>
            <a:ext cx="2727198" cy="914400"/>
          </a:xfrm>
          <a:prstGeom prst="rect">
            <a:avLst/>
          </a:prstGeom>
          <a:solidFill>
            <a:srgbClr val="E8EFF8"/>
          </a:solidFill>
          <a:ln w="6350">
            <a:solidFill>
              <a:srgbClr val="E3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1714" y="1600200"/>
            <a:ext cx="249859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98781"/>
                </a:solidFill>
                <a:latin typeface="Segoe UI"/>
              </a:defRPr>
            </a:pPr>
            <a:r>
              <a:t>Reporting currency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1714" y="1874520"/>
            <a:ext cx="249859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5CAB"/>
                </a:solidFill>
                <a:latin typeface="Segoe UI"/>
              </a:defRPr>
            </a:pPr>
            <a:r>
              <a:t>GBP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446520"/>
            <a:ext cx="11091672" cy="13716"/>
          </a:xfrm>
          <a:prstGeom prst="rect">
            <a:avLst/>
          </a:prstGeom>
          <a:solidFill>
            <a:srgbClr val="E3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98781"/>
                </a:solidFill>
                <a:latin typeface="Segoe UI"/>
              </a:defRPr>
            </a:pPr>
            <a:r>
              <a:t>2026 Q1 Reserve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11512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98781"/>
                </a:solidFill>
                <a:latin typeface="Segoe UI"/>
              </a:defRPr>
            </a:pPr>
            <a:r>
              <a:t>Slide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5CAB"/>
                </a:solidFill>
                <a:latin typeface="Segoe UI"/>
              </a:defRPr>
            </a:pPr>
            <a: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16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1412"/>
                </a:solidFill>
                <a:latin typeface="Segoe UI"/>
              </a:defRPr>
            </a:pPr>
            <a: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2514E"/>
                </a:solidFill>
                <a:latin typeface="Segoe UI"/>
              </a:defRPr>
            </a:pPr>
            <a:r>
              <a:t>Overall reserves increased GBP 4m to GBP 614m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2880360" cy="914400"/>
          </a:xfrm>
          <a:prstGeom prst="rect">
            <a:avLst/>
          </a:prstGeom>
          <a:solidFill>
            <a:srgbClr val="E8EFF8"/>
          </a:solidFill>
          <a:ln w="6350">
            <a:solidFill>
              <a:srgbClr val="E3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98781"/>
                </a:solidFill>
                <a:latin typeface="Segoe UI"/>
              </a:defRPr>
            </a:pPr>
            <a:r>
              <a:t>Total reserve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7452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5CAB"/>
                </a:solidFill>
                <a:latin typeface="Segoe UI"/>
              </a:defRPr>
            </a:pPr>
            <a:r>
              <a:t>GBP 614m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0440" y="1508760"/>
            <a:ext cx="2880360" cy="914400"/>
          </a:xfrm>
          <a:prstGeom prst="rect">
            <a:avLst/>
          </a:prstGeom>
          <a:solidFill>
            <a:srgbClr val="E8EFF8"/>
          </a:solidFill>
          <a:ln w="6350">
            <a:solidFill>
              <a:srgbClr val="E3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600200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98781"/>
                </a:solidFill>
                <a:latin typeface="Segoe UI"/>
              </a:defRPr>
            </a:pPr>
            <a:r>
              <a:t>Quarterly movement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87452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5CAB"/>
                </a:solidFill>
                <a:latin typeface="Segoe UI"/>
              </a:defRPr>
            </a:pPr>
            <a:r>
              <a:t>+GBP 4m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1508760"/>
            <a:ext cx="2880360" cy="914400"/>
          </a:xfrm>
          <a:prstGeom prst="rect">
            <a:avLst/>
          </a:prstGeom>
          <a:solidFill>
            <a:srgbClr val="E8EFF8"/>
          </a:solidFill>
          <a:ln w="6350">
            <a:solidFill>
              <a:srgbClr val="E3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1600200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98781"/>
                </a:solidFill>
                <a:latin typeface="Segoe UI"/>
              </a:defRPr>
            </a:pPr>
            <a:r>
              <a:t>Ultimate claims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187452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5CAB"/>
                </a:solidFill>
                <a:latin typeface="Segoe UI"/>
              </a:defRPr>
            </a:pPr>
            <a:r>
              <a:t>GBP 3,860.1m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697480"/>
            <a:ext cx="1081735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•  The principal increases were Casualty +GBP 6m and Property +GBP 1m.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•  Motor released GBP 1m following favourable development.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•  Marine released GBP 2m following favourable development.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•  40 projection-method selections changed since 2025 Q4, concentrated in Casualty and Marine and Motor and Property.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•  Some areas have stabilised, but Casualty uncertainty remains elevated; this quarter is the baseline for the Q2 comparison.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446520"/>
            <a:ext cx="11091672" cy="13716"/>
          </a:xfrm>
          <a:prstGeom prst="rect">
            <a:avLst/>
          </a:prstGeom>
          <a:solidFill>
            <a:srgbClr val="E3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98781"/>
                </a:solidFill>
                <a:latin typeface="Segoe UI"/>
              </a:defRPr>
            </a:pPr>
            <a:r>
              <a:t>2026 Q1 Reserve 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11512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98781"/>
                </a:solidFill>
                <a:latin typeface="Segoe UI"/>
              </a:defRPr>
            </a:pPr>
            <a:r>
              <a:t>Slide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5CAB"/>
                </a:solidFill>
                <a:latin typeface="Segoe UI"/>
              </a:defRPr>
            </a:pPr>
            <a:r>
              <a:t>RESERVE 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16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1412"/>
                </a:solidFill>
                <a:latin typeface="Segoe UI"/>
              </a:defRPr>
            </a:pPr>
            <a:r>
              <a:t>Overall Reserve 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2514E"/>
                </a:solidFill>
                <a:latin typeface="Segoe UI"/>
              </a:defRPr>
            </a:pPr>
            <a:r>
              <a:t>Total reserve of GBP 614m against GBP 610m at 2025 Q4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08760"/>
          <a:ext cx="109728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Reserving Class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Current (GBP m)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Prior quarter (GBP m)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Movement (GBP m)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Casualty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220.0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214.0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6.0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Property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150.0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149.0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1.0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Motor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150.0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151.0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-1.0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Marine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94.0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96.0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-2.0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614.0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610.0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4.0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3657600"/>
          <a:ext cx="914400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6446520"/>
            <a:ext cx="11091672" cy="13716"/>
          </a:xfrm>
          <a:prstGeom prst="rect">
            <a:avLst/>
          </a:prstGeom>
          <a:solidFill>
            <a:srgbClr val="E3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98781"/>
                </a:solidFill>
                <a:latin typeface="Segoe UI"/>
              </a:defRPr>
            </a:pPr>
            <a:r>
              <a:t>2026 Q1 Reserve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1512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98781"/>
                </a:solidFill>
                <a:latin typeface="Segoe UI"/>
              </a:defRPr>
            </a:pPr>
            <a:r>
              <a:t>Slide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5CAB"/>
                </a:solidFill>
                <a:latin typeface="Segoe UI"/>
              </a:defRPr>
            </a:pPr>
            <a:r>
              <a:t>RESERVE 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16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1412"/>
                </a:solidFill>
                <a:latin typeface="Segoe UI"/>
              </a:defRPr>
            </a:pPr>
            <a:r>
              <a:t>Reserve Movement in the Quarter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2514E"/>
                </a:solidFill>
                <a:latin typeface="Segoe UI"/>
              </a:defRPr>
            </a:pPr>
            <a:r>
              <a:t>Reserves moved from GBP 610m at 2025 Q4 to GBP 614m, a movement of +GBP 4m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508760"/>
          <a:ext cx="914400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4251960"/>
          <a:ext cx="54864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Reserving Class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Movement (GBP m)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Casualty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6.0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Property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1.0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Motor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-1.0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Marine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-2.0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4.0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6446520"/>
            <a:ext cx="11091672" cy="13716"/>
          </a:xfrm>
          <a:prstGeom prst="rect">
            <a:avLst/>
          </a:prstGeom>
          <a:solidFill>
            <a:srgbClr val="E3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98781"/>
                </a:solidFill>
                <a:latin typeface="Segoe UI"/>
              </a:defRPr>
            </a:pPr>
            <a:r>
              <a:t>2026 Q1 Reserve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1512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98781"/>
                </a:solidFill>
                <a:latin typeface="Segoe UI"/>
              </a:defRPr>
            </a:pPr>
            <a:r>
              <a:t>Slide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5CAB"/>
                </a:solidFill>
                <a:latin typeface="Segoe UI"/>
              </a:defRPr>
            </a:pPr>
            <a:r>
              <a:t>RESERVE 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16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1412"/>
                </a:solidFill>
                <a:latin typeface="Segoe UI"/>
              </a:defRPr>
            </a:pPr>
            <a:r>
              <a:t>Reserving Class Commentary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2514E"/>
                </a:solidFill>
                <a:latin typeface="Segoe UI"/>
              </a:defRPr>
            </a:pPr>
            <a:r>
              <a:t>Principal class movements and drivers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10817352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•  Casualty: strengthened GBP 6m. Recent accident years remain the principal focus; strengthening reflects sustained adverse emergence.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•  Marine: released GBP 2m. Favourable development has supported a measured release.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•  Property: strengthened GBP 1m. Experience is within expectation; catastrophe exposure is monitored seasonally.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•  Motor: released GBP 1m. Frequency and severity trends remain within expectation.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1672" cy="13716"/>
          </a:xfrm>
          <a:prstGeom prst="rect">
            <a:avLst/>
          </a:prstGeom>
          <a:solidFill>
            <a:srgbClr val="E3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98781"/>
                </a:solidFill>
                <a:latin typeface="Segoe UI"/>
              </a:defRPr>
            </a:pPr>
            <a:r>
              <a:t>2026 Q1 Reserve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1512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98781"/>
                </a:solidFill>
                <a:latin typeface="Segoe UI"/>
              </a:defRPr>
            </a:pPr>
            <a:r>
              <a:t>Slide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5CAB"/>
                </a:solidFill>
                <a:latin typeface="Segoe UI"/>
              </a:defRPr>
            </a:pPr>
            <a:r>
              <a:t>CLAIMS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16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1412"/>
                </a:solidFill>
                <a:latin typeface="Segoe UI"/>
              </a:defRPr>
            </a:pPr>
            <a:r>
              <a:t>Claims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2514E"/>
                </a:solidFill>
                <a:latin typeface="Segoe UI"/>
              </a:defRPr>
            </a:pPr>
            <a:r>
              <a:t>Cumulative paid claims of GBP 3,246.1m, +GBP 392.6m year-on-year (2025 Q1)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08760"/>
          <a:ext cx="109728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Reserving Class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2026 Q1 (GBP m)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2025 Q1 (GBP m)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Change (GBP m)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Casualty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564.1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482.7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81.4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Property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1,225.9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1,103.2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122.6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Motor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1,122.2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977.1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145.1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Marine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333.9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290.5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43.4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3337560"/>
          <a:ext cx="914400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6446520"/>
            <a:ext cx="11091672" cy="13716"/>
          </a:xfrm>
          <a:prstGeom prst="rect">
            <a:avLst/>
          </a:prstGeom>
          <a:solidFill>
            <a:srgbClr val="E3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98781"/>
                </a:solidFill>
                <a:latin typeface="Segoe UI"/>
              </a:defRPr>
            </a:pPr>
            <a:r>
              <a:t>2026 Q1 Reserve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1512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98781"/>
                </a:solidFill>
                <a:latin typeface="Segoe UI"/>
              </a:defRPr>
            </a:pPr>
            <a:r>
              <a:t>Slide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5CAB"/>
                </a:solidFill>
                <a:latin typeface="Segoe UI"/>
              </a:defRPr>
            </a:pPr>
            <a:r>
              <a:t>ASSUMPTIONS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16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1412"/>
                </a:solidFill>
                <a:latin typeface="Segoe UI"/>
              </a:defRPr>
            </a:pPr>
            <a:r>
              <a:t>Assumption and Methodology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2514E"/>
                </a:solidFill>
                <a:latin typeface="Segoe UI"/>
              </a:defRPr>
            </a:pPr>
            <a:r>
              <a:t>40 projection-method selections changed since 2025 Q4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08760"/>
          <a:ext cx="11091672" cy="576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8612"/>
                <a:gridCol w="1848612"/>
                <a:gridCol w="1848612"/>
                <a:gridCol w="1848612"/>
                <a:gridCol w="1848612"/>
                <a:gridCol w="1848612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Entity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Reserving Class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Loss Type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Accident Year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Previous method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Current method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Demo Insurance Europe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Casualty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Attritional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Bornhuetter-Ferguson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Chain Ladder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Demo Insurance UK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Casualty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Attritional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2023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Bornhuetter-Ferguson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Chain Ladder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Demo Insurance Europe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Casualty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Attritional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Expected Loss Ratio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Bornhuetter-Ferguson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Demo Insurance UK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Casualty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Attritional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Expected Loss Ratio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Bornhuetter-Ferguson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Demo Insurance Europe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Casualty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Large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Bornhuetter-Ferguson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Chain Ladder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Demo Insurance UK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Casualty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Large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2023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Bornhuetter-Ferguson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Chain Ladder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Demo Insurance Europe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Casualty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Large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Expected Loss Ratio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Bornhuetter-Ferguson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Demo Insurance UK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Casualty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Large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Expected Loss Ratio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Bornhuetter-Ferguson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Demo Insurance Europe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Marine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Attritional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Bornhuetter-Ferguson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Chain Ladder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Demo Insurance UK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Marine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Attritional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2023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Bornhuetter-Ferguson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Chain Ladder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Demo Insurance Europe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Marine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Attritional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Expected Loss Ratio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Bornhuetter-Ferguson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Demo Insurance UK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Marine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Attritional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Expected Loss Ratio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Bornhuetter-Ferguson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Demo Insurance Europe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Marine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Cat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Bornhuetter-Ferguson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Chain Ladder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Demo Insurance UK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Marine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Cat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2023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Bornhuetter-Ferguson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Chain Ladder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Demo Insurance Europe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Marine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Cat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Expected Loss Ratio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Bornhuetter-Ferguson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Demo Insurance UK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Marine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Cat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Expected Loss Ratio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Bornhuetter-Ferguson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Demo Insurance Europe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Marine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Large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Bornhuetter-Ferguson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Chain Ladder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6446520"/>
            <a:ext cx="11091672" cy="13716"/>
          </a:xfrm>
          <a:prstGeom prst="rect">
            <a:avLst/>
          </a:prstGeom>
          <a:solidFill>
            <a:srgbClr val="E3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98781"/>
                </a:solidFill>
                <a:latin typeface="Segoe UI"/>
              </a:defRPr>
            </a:pPr>
            <a:r>
              <a:t>2026 Q1 Reserve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1512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98781"/>
                </a:solidFill>
                <a:latin typeface="Segoe UI"/>
              </a:defRPr>
            </a:pPr>
            <a:r>
              <a:t>Slide 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5CAB"/>
                </a:solidFill>
                <a:latin typeface="Segoe UI"/>
              </a:defRPr>
            </a:pPr>
            <a:r>
              <a:t>CLASS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16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1412"/>
                </a:solidFill>
                <a:latin typeface="Segoe UI"/>
              </a:defRPr>
            </a:pPr>
            <a:r>
              <a:t>Marine Reserve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2514E"/>
                </a:solidFill>
                <a:latin typeface="Segoe UI"/>
              </a:defRPr>
            </a:pPr>
            <a:r>
              <a:t>Marine reserve of GBP 94m, -GBP 2m in the quarter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508760"/>
          <a:ext cx="914400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4251960"/>
            <a:ext cx="10817352" cy="1097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•  Accident years 2024 to 2026 contribute +GBP 3.5m of the -GBP 2m movement.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•  The largest single accident-year movement is 2026 at +GBP 11m.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•  Favourable development has supported a measured release.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46520"/>
            <a:ext cx="11091672" cy="13716"/>
          </a:xfrm>
          <a:prstGeom prst="rect">
            <a:avLst/>
          </a:prstGeom>
          <a:solidFill>
            <a:srgbClr val="E3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98781"/>
                </a:solidFill>
                <a:latin typeface="Segoe UI"/>
              </a:defRPr>
            </a:pPr>
            <a:r>
              <a:t>2026 Q1 Reserve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1512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98781"/>
                </a:solidFill>
                <a:latin typeface="Segoe UI"/>
              </a:defRPr>
            </a:pPr>
            <a:r>
              <a:t>Slide 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5CAB"/>
                </a:solidFill>
                <a:latin typeface="Segoe UI"/>
              </a:defRPr>
            </a:pPr>
            <a:r>
              <a:t>LARGE AND CAT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16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1412"/>
                </a:solidFill>
                <a:latin typeface="Segoe UI"/>
              </a:defRPr>
            </a:pPr>
            <a:r>
              <a:t>Large and Cat Loss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2514E"/>
                </a:solidFill>
                <a:latin typeface="Segoe UI"/>
              </a:defRPr>
            </a:pPr>
            <a:r>
              <a:t>Large and Cat reserves of GBP 257.7m, +GBP 2m in the quarter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08760"/>
          <a:ext cx="822960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Reserving Class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Loss Type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Reserve (GBP m)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Casualty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Large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102.6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Property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Large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45.4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Property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Cat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28.5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Motor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Large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31.5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Marine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Large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35.0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Marine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Cat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14.6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3977640"/>
            <a:ext cx="10817352" cy="1097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•  Casualty Large: +GBP 2.8m in the quarter.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•  Marine Large: -GBP 0.7m in the quarter.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•  Marine Cat: -GBP 0.3m in the quarter.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46520"/>
            <a:ext cx="11091672" cy="13716"/>
          </a:xfrm>
          <a:prstGeom prst="rect">
            <a:avLst/>
          </a:prstGeom>
          <a:solidFill>
            <a:srgbClr val="E3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98781"/>
                </a:solidFill>
                <a:latin typeface="Segoe UI"/>
              </a:defRPr>
            </a:pPr>
            <a:r>
              <a:t>2026 Q1 Reserve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1512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98781"/>
                </a:solidFill>
                <a:latin typeface="Segoe UI"/>
              </a:defRPr>
            </a:pPr>
            <a:r>
              <a:t>Slide 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5CAB"/>
                </a:solidFill>
                <a:latin typeface="Segoe UI"/>
              </a:defRPr>
            </a:pPr>
            <a:r>
              <a:t>ALTERNATIVE VIEWS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16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1412"/>
                </a:solidFill>
                <a:latin typeface="Segoe UI"/>
              </a:defRPr>
            </a:pPr>
            <a:r>
              <a:t>Reserves by Business Unit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2514E"/>
                </a:solidFill>
                <a:latin typeface="Segoe UI"/>
              </a:defRPr>
            </a:pPr>
            <a:r>
              <a:t>Total reserve of GBP 614m by Business Unit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08760"/>
          <a:ext cx="109728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Business Unit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2026 Q1 (GBP m)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2025 Q4 (GBP m)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Movement (GBP m)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Commercial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279.0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275.7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3.3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Specialty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170.0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169.0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1.0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Retail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165.0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165.3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-0.3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3017520"/>
          <a:ext cx="914400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760720"/>
            <a:ext cx="109087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2514E"/>
                </a:solidFill>
                <a:latin typeface="Segoe UI"/>
              </a:defRPr>
            </a:pPr>
            <a:r>
              <a:t>The same reserves can be aggregated by Reserving Class, Finance Class, Region, Business Unit, Loss Type, Entity or Accident Year; Business Unit is shown here as the management view for this quarter.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446520"/>
            <a:ext cx="11091672" cy="13716"/>
          </a:xfrm>
          <a:prstGeom prst="rect">
            <a:avLst/>
          </a:prstGeom>
          <a:solidFill>
            <a:srgbClr val="E3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98781"/>
                </a:solidFill>
                <a:latin typeface="Segoe UI"/>
              </a:defRPr>
            </a:pPr>
            <a:r>
              <a:t>2026 Q1 Reserve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11512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98781"/>
                </a:solidFill>
                <a:latin typeface="Segoe UI"/>
              </a:defRPr>
            </a:pPr>
            <a:r>
              <a:t>Slide 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5CAB"/>
                </a:solidFill>
                <a:latin typeface="Segoe UI"/>
              </a:defRPr>
            </a:pPr>
            <a:r>
              <a:t>UNCERTAINTIES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16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1412"/>
                </a:solidFill>
                <a:latin typeface="Segoe UI"/>
              </a:defRPr>
            </a:pPr>
            <a:r>
              <a:t>Key Uncertainties and Areas of Focus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2514E"/>
                </a:solidFill>
                <a:latin typeface="Segoe UI"/>
              </a:defRPr>
            </a:pPr>
            <a:r>
              <a:t>Qualitative areas of focus from the actuarial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10817352" cy="1097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1. Casualty uncertainty remains elevated despite stabilisation elsewhere; attritional emergence in accident years 2022 to 2024 is still above long-term expectation.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2. Marine continues to develop favourably; further releases will be considered only with sustained evidence.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3. Motor has released modestly; frequency trends remain within expectation.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1672" cy="13716"/>
          </a:xfrm>
          <a:prstGeom prst="rect">
            <a:avLst/>
          </a:prstGeom>
          <a:solidFill>
            <a:srgbClr val="E3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98781"/>
                </a:solidFill>
                <a:latin typeface="Segoe UI"/>
              </a:defRPr>
            </a:pPr>
            <a:r>
              <a:t>2026 Q1 Reserve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1512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98781"/>
                </a:solidFill>
                <a:latin typeface="Segoe UI"/>
              </a:defRPr>
            </a:pPr>
            <a:r>
              <a:t>Slide 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5CAB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16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1412"/>
                </a:solidFill>
                <a:latin typeface="Segoe UI"/>
              </a:defRPr>
            </a:pPr>
            <a:r>
              <a:t>Conclusion and Next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2514E"/>
                </a:solidFill>
                <a:latin typeface="Segoe UI"/>
              </a:defRPr>
            </a:pPr>
            <a:r>
              <a:t>Overall reserve conclusion and forward focus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09087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2514E"/>
                </a:solidFill>
                <a:latin typeface="Segoe UI"/>
              </a:defRPr>
            </a:pPr>
            <a:r>
              <a:t>A comparatively quiet quarter. Casualty remains the key focus area going into the mid-year review.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57400"/>
            <a:ext cx="109087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2514E"/>
                </a:solidFill>
                <a:latin typeface="Segoe UI"/>
              </a:defRPr>
            </a:pPr>
            <a:r>
              <a:t>This review has been prepared by the actuarial function for management and Board use. Selections reflect actuarial judgement applied to the data available at the valuation date; they will be reassessed at the next quarterly review.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606040"/>
            <a:ext cx="2880360" cy="914400"/>
          </a:xfrm>
          <a:prstGeom prst="rect">
            <a:avLst/>
          </a:prstGeom>
          <a:solidFill>
            <a:srgbClr val="E8EFF8"/>
          </a:solidFill>
          <a:ln w="6350">
            <a:solidFill>
              <a:srgbClr val="E3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697480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98781"/>
                </a:solidFill>
                <a:latin typeface="Segoe UI"/>
              </a:defRPr>
            </a:pPr>
            <a:r>
              <a:t>Total reserve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97180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5CAB"/>
                </a:solidFill>
                <a:latin typeface="Segoe UI"/>
              </a:defRPr>
            </a:pPr>
            <a:r>
              <a:t>GBP 614m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91672" cy="13716"/>
          </a:xfrm>
          <a:prstGeom prst="rect">
            <a:avLst/>
          </a:prstGeom>
          <a:solidFill>
            <a:srgbClr val="E3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98781"/>
                </a:solidFill>
                <a:latin typeface="Segoe UI"/>
              </a:defRPr>
            </a:pPr>
            <a:r>
              <a:t>2026 Q1 Reserve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11512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98781"/>
                </a:solidFill>
                <a:latin typeface="Segoe UI"/>
              </a:defRPr>
            </a:pPr>
            <a:r>
              <a:t>Slide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