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Q4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199.0</c:v>
                </c:pt>
                <c:pt idx="1">
                  <c:v>139.0</c:v>
                </c:pt>
                <c:pt idx="2">
                  <c:v>149.0</c:v>
                </c:pt>
                <c:pt idx="3">
                  <c:v>98.0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Q3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196.0</c:v>
                </c:pt>
                <c:pt idx="1">
                  <c:v>138.0</c:v>
                </c:pt>
                <c:pt idx="2">
                  <c:v>148.0</c:v>
                </c:pt>
                <c:pt idx="3">
                  <c:v>98.0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Movement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1.0</c:v>
                </c:pt>
                <c:pt idx="2">
                  <c:v>1.0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Q4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458.7</c:v>
                </c:pt>
                <c:pt idx="1">
                  <c:v>1060.6</c:v>
                </c:pt>
                <c:pt idx="2">
                  <c:v>923.8</c:v>
                </c:pt>
                <c:pt idx="3">
                  <c:v>277.2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Q3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440.3</c:v>
                </c:pt>
                <c:pt idx="1">
                  <c:v>1030.0</c:v>
                </c:pt>
                <c:pt idx="2">
                  <c:v>889.8</c:v>
                </c:pt>
                <c:pt idx="3">
                  <c:v>267.7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Q4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Sheet1!$A$2:$A$9</c:f>
              <c:strCache>
                <c:ptCount val="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2.3</c:v>
                </c:pt>
                <c:pt idx="1">
                  <c:v>3.6</c:v>
                </c:pt>
                <c:pt idx="2">
                  <c:v>5.4</c:v>
                </c:pt>
                <c:pt idx="3">
                  <c:v>8.5</c:v>
                </c:pt>
                <c:pt idx="4">
                  <c:v>13.3</c:v>
                </c:pt>
                <c:pt idx="5">
                  <c:v>20.9</c:v>
                </c:pt>
                <c:pt idx="6">
                  <c:v>32.5</c:v>
                </c:pt>
                <c:pt idx="7">
                  <c:v>52.6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 Q3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Sheet1!$A$2:$A$9</c:f>
              <c:strCache>
                <c:ptCount val="8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2.5</c:v>
                </c:pt>
                <c:pt idx="1">
                  <c:v>3.9</c:v>
                </c:pt>
                <c:pt idx="2">
                  <c:v>5.9</c:v>
                </c:pt>
                <c:pt idx="3">
                  <c:v>9.3</c:v>
                </c:pt>
                <c:pt idx="4">
                  <c:v>14.5</c:v>
                </c:pt>
                <c:pt idx="5">
                  <c:v>22.9</c:v>
                </c:pt>
                <c:pt idx="6">
                  <c:v>35.6</c:v>
                </c:pt>
                <c:pt idx="7">
                  <c:v>43.4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Q4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Sheet1!$A$2:$A$4</c:f>
              <c:strCache>
                <c:ptCount val="3"/>
                <c:pt idx="0">
                  <c:v>Commercial</c:v>
                </c:pt>
                <c:pt idx="1">
                  <c:v>Specialty</c:v>
                </c:pt>
                <c:pt idx="2">
                  <c:v>Retail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261.4</c:v>
                </c:pt>
                <c:pt idx="1">
                  <c:v>163.7</c:v>
                </c:pt>
                <c:pt idx="2">
                  <c:v>159.9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5C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2024 Q4</a:t>
            </a:r>
          </a:p>
          <a:p>
            <a:pPr>
              <a:defRPr sz="3600" b="0">
                <a:solidFill>
                  <a:srgbClr val="BBD4F0"/>
                </a:solidFill>
                <a:latin typeface="Segoe UI"/>
              </a:defRPr>
            </a:pPr>
            <a:r>
              <a:t>Reserve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4F0"/>
                </a:solidFill>
                <a:latin typeface="Segoe UI"/>
              </a:defRPr>
            </a:pPr>
            <a:r>
              <a:t>Quarterly actuarial reserve review</a:t>
            </a:r>
          </a:p>
          <a:p>
            <a:pPr>
              <a:defRPr sz="1300">
                <a:solidFill>
                  <a:srgbClr val="BBD4F0"/>
                </a:solidFill>
                <a:latin typeface="Segoe UI"/>
              </a:defRPr>
            </a:pPr>
            <a:r>
              <a:t>Valuation date: 2024-12-31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Quarterly actuarial reserve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7278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4438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UK; Demo Insurance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6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Valuation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2024-12-31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4554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1714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4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reserves increased GBP 5m to GBP 585m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585m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Quarterly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+GBP 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Ultimate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3,305.3m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principal increases were Casualty +GBP 3m and Property +GBP 1m.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No projection-method selections changed this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experience remains under observation; other classes are broadly stable with no major methodology changes this quarter.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Overall Reserve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585m against GBP 580m at 2024 Q3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Prior quarter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199.0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196.0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139.0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138.0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585.0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580.0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 Movement in the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Reserves moved from GBP 580m at 2024 Q3 to GBP 585m, a movement of +GBP 5m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Reserving Class Commentary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Principal class movements 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Casualty: strengthened GBP 3m. Attritional emergence in recent accident years is marginally above expectation and remains under observation.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Property: strengthened GBP 1m. Experience is within expectation; catastrophe exposure is monitored seasonally.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Motor: strengthened GBP 1m. Frequency and severity trends remain within expectation.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Marine: broadly flat in the quarter.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Claims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Cumulative paid claims of GBP 2,720.3m, +GBP 92.5m versus the prior quarter (2024 Q3)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 Q4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 Q3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Change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458.7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440.3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18.3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1,060.6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1,030.0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30.6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923.8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889.8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34.0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277.2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267.7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3375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Assumption and Methodology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No projection-method changes since 2024 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Numeric assumptions are unchanged apart from routine selected loss-ratio updates at the annual roll.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CLASS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Property Reserve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Property reserve of GBP 139m, +GBP 1m in the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519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Accident years 2022 to 2024 contribute +GBP 4.1m of the +GBP 1m movement.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largest single accident-year movement is 2024 at +GBP 9.3m.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Experience is within expectation; catastrophe exposure is monitored seasonally.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LARGE AND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Large and Cat Loss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Large and Cat reserves of GBP 240.2m, +GBP 2.1m in the quarter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8229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92.8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38.0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26.4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31.3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36.5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97764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Large: +GBP 1.4m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 Large: +GBP 0.3m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 Large: +GBP 0.2m in the quarter.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ALTERNATIVE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Reserves by Business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585m by Business Unit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Business Unit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 Q4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2024 Q3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Commercial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258.8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2.6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Specialty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163.7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162.4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Retail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159.9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158.8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1.1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01752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same reserves can be aggregated by Reserving Class, Finance Class, Region, Business Unit, Loss Type, Entity or Accident Year; Business Unit is shown here as the management view for this quarter.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UNCERTAINTIES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Key Uncertainties and Areas of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Qualitative areas of focus from the actuarial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1. Casualty attritional emergence remains marginally above expectation and is the principal area under observation.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2. Claims inflation assumptions remain unchanged this quarter and continue to be tested against observed severity trends.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3. Property catastrophe exposure for the coming windstorm season is unchanged from the prior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Conclusion and Next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 conclusion and forward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year-end position shows modest overall strengthening. Casualty remains under observation without methodology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This review has been prepared by the actuarial function for management and Board use. Selections reflect actuarial judgement applied to the data available at the valuation date; they will be reassessed at the next quarterly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585m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2024 Q4 Reserve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