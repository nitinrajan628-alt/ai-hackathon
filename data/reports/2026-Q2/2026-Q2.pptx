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238.0</c:v>
                </c:pt>
                <c:pt idx="1">
                  <c:v>157.0</c:v>
                </c:pt>
                <c:pt idx="2">
                  <c:v>154.0</c:v>
                </c:pt>
                <c:pt idx="3">
                  <c:v>91.0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220.0</c:v>
                </c:pt>
                <c:pt idx="1">
                  <c:v>150.0</c:v>
                </c:pt>
                <c:pt idx="2">
                  <c:v>150.0</c:v>
                </c:pt>
                <c:pt idx="3">
                  <c:v>94.0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Movement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18.0</c:v>
                </c:pt>
                <c:pt idx="1">
                  <c:v>7.0</c:v>
                </c:pt>
                <c:pt idx="2">
                  <c:v>4.0</c:v>
                </c:pt>
                <c:pt idx="3">
                  <c:v>-3.0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582.4</c:v>
                </c:pt>
                <c:pt idx="1">
                  <c:v>1250.9</c:v>
                </c:pt>
                <c:pt idx="2">
                  <c:v>1151.0</c:v>
                </c:pt>
                <c:pt idx="3">
                  <c:v>343.8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 Q2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Sheet1!$A$2:$A$5</c:f>
              <c:strCache>
                <c:ptCount val="4"/>
                <c:pt idx="0">
                  <c:v>Casualty</c:v>
                </c:pt>
                <c:pt idx="1">
                  <c:v>Property</c:v>
                </c:pt>
                <c:pt idx="2">
                  <c:v>Motor</c:v>
                </c:pt>
                <c:pt idx="3">
                  <c:v>Marine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504.9</c:v>
                </c:pt>
                <c:pt idx="1">
                  <c:v>1139.6</c:v>
                </c:pt>
                <c:pt idx="2">
                  <c:v>1021.1</c:v>
                </c:pt>
                <c:pt idx="3">
                  <c:v>302.5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4.9</c:v>
                </c:pt>
                <c:pt idx="1">
                  <c:v>6.3</c:v>
                </c:pt>
                <c:pt idx="2">
                  <c:v>8.0</c:v>
                </c:pt>
                <c:pt idx="3">
                  <c:v>10.2</c:v>
                </c:pt>
                <c:pt idx="4">
                  <c:v>13.5</c:v>
                </c:pt>
                <c:pt idx="5">
                  <c:v>27.3</c:v>
                </c:pt>
                <c:pt idx="6">
                  <c:v>36.3</c:v>
                </c:pt>
                <c:pt idx="7">
                  <c:v>45.1</c:v>
                </c:pt>
                <c:pt idx="8">
                  <c:v>61.4</c:v>
                </c:pt>
                <c:pt idx="9">
                  <c:v>25.0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Q1</c:v>
                </c:pt>
              </c:strCache>
            </c:strRef>
          </c:tx>
          <c:spPr>
            <a:solidFill>
              <a:srgbClr val="2F8F4E"/>
            </a:solidFill>
          </c:spPr>
          <c:cat>
            <c:strRef>
              <c:f>Sheet1!$A$2:$A$11</c:f>
              <c:strCache>
                <c:ptCount val="10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  <c:pt idx="6">
                  <c:v>2023</c:v>
                </c:pt>
                <c:pt idx="7">
                  <c:v>2024</c:v>
                </c:pt>
                <c:pt idx="8">
                  <c:v>2025</c:v>
                </c:pt>
                <c:pt idx="9">
                  <c:v>2026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5.4</c:v>
                </c:pt>
                <c:pt idx="1">
                  <c:v>7.0</c:v>
                </c:pt>
                <c:pt idx="2">
                  <c:v>8.9</c:v>
                </c:pt>
                <c:pt idx="3">
                  <c:v>11.3</c:v>
                </c:pt>
                <c:pt idx="4">
                  <c:v>14.9</c:v>
                </c:pt>
                <c:pt idx="5">
                  <c:v>25.5</c:v>
                </c:pt>
                <c:pt idx="6">
                  <c:v>33.9</c:v>
                </c:pt>
                <c:pt idx="7">
                  <c:v>42.1</c:v>
                </c:pt>
                <c:pt idx="8">
                  <c:v>57.3</c:v>
                </c:pt>
                <c:pt idx="9">
                  <c:v>13.8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 Q2</c:v>
                </c:pt>
              </c:strCache>
            </c:strRef>
          </c:tx>
          <c:spPr>
            <a:solidFill>
              <a:srgbClr val="1C5CAB"/>
            </a:solidFill>
          </c:spPr>
          <c:cat>
            <c:strRef>
              <c:f>Sheet1!$A$2:$A$4</c:f>
              <c:strCache>
                <c:ptCount val="3"/>
                <c:pt idx="0">
                  <c:v>UK and Ireland</c:v>
                </c:pt>
                <c:pt idx="1">
                  <c:v>Continental Europe</c:v>
                </c:pt>
                <c:pt idx="2">
                  <c:v>International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304.4</c:v>
                </c:pt>
                <c:pt idx="1">
                  <c:v>218.5</c:v>
                </c:pt>
                <c:pt idx="2">
                  <c:v>117.1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2DB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3E2DB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5C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2026 Q2</a:t>
            </a:r>
          </a:p>
          <a:p>
            <a:pPr>
              <a:defRPr sz="3600" b="0">
                <a:solidFill>
                  <a:srgbClr val="BBD4F0"/>
                </a:solidFill>
                <a:latin typeface="Segoe UI"/>
              </a:defRPr>
            </a:pPr>
            <a:r>
              <a:t>Reserve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BD4F0"/>
                </a:solidFill>
                <a:latin typeface="Segoe UI"/>
              </a:defRPr>
            </a:pPr>
            <a:r>
              <a:t>Quarterly actuarial reserve review</a:t>
            </a:r>
          </a:p>
          <a:p>
            <a:pPr>
              <a:defRPr sz="1300">
                <a:solidFill>
                  <a:srgbClr val="BBD4F0"/>
                </a:solidFill>
                <a:latin typeface="Segoe UI"/>
              </a:defRPr>
            </a:pPr>
            <a:r>
              <a:t>Valuation date: 2026-06-30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Quarterly actuarial reserve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Group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7278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4438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4438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Demo Insurance UK; Demo Insurance Europe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5916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3076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Valuation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3076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2026-06-30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4554" y="1508760"/>
            <a:ext cx="2727198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4" y="1600200"/>
            <a:ext cx="249859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Reporting currency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4" y="1874520"/>
            <a:ext cx="249859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reserves increased GBP 26m to GBP 640m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640m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Quarterly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+GBP 26m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50876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002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Ultimate claims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3,968.1m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69748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principal increases were Casualty +GBP 18m and Property +GBP 7m.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 released GBP 3m following favourable development.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4 projection-method selections changed since 2026 Q1, concentrated in Casualty and Property.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strengthening of GBP 18m is the dominant feature; recent accident years are the main contributors and further emergence will be reviewed quarterly.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Overall Reserve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640m against GBP 614m at 2026 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Prior quarter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238.0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220.0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18.0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157.0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150.0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91.0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94.0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640.0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614.0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65760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 Movement in the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Reserves moved from GBP 614m at 2026 Q1 to GBP 640m, a movement of +GBP 26m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18.0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4.0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-3.0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26.0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RESERVE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Reserving Class Commentary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Principal class movements and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Casualty: strengthened GBP 18m. Strengthening is concentrated in recent accident years, supported by method changes and a higher inflation assumption.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Property: strengthened GBP 7m. Experience is within expectation; catastrophe exposure is monitored seasonally.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Motor: strengthened GBP 4m. Frequency and severity trends remain within expectation.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Marine: released GBP 3m. Favourable development has supported a measured release.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Claims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Cumulative paid claims of GBP 3,328.1m, +GBP 360m year-on-year (2025 Q2)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2025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Change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582.4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504.9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77.4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1,250.9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1,139.6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111.3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1,151.0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1,021.1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129.9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343.8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302.5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41.3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3375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Assumption and Methodology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4 projection-method selections changed since 2026 Q1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9167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8612"/>
                <a:gridCol w="1848612"/>
                <a:gridCol w="1848612"/>
                <a:gridCol w="1848612"/>
                <a:gridCol w="1848612"/>
                <a:gridCol w="1848612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Entity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Accident Year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Previous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Current method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Europe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Attritional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Demo Insurance UK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Bornhuetter-Ferguson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Chain Ladder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337560"/>
            <a:ext cx="108173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Casualty claims inflation assumption moved from 4.5% to 5.5%.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 management loading of GBP 2m is held for Casualty Large accident year 2023 (Demo Insurance UK).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CLASS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Casualty Reserve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Casualty reserve of GBP 238m, +GBP 18m in the quarter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0876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25196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Accident years 2024 to 2026 contribute +GBP 18.3m of the +GBP 18m movement.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The largest single accident-year movement is 2026 at +GBP 11.2m.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Strengthening is concentrated in recent accident years, supported by method changes and a higher inflation assumption.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LARGE AND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Large and Cat Loss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Large and Cat reserves of GBP 270.3m, +GBP 12.6m in the quarter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82296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Reserving Class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Loss Type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Reserve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Casualty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110.9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49.2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Property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29.8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Motor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32.3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33.9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Marine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Cat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14.1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3977640"/>
            <a:ext cx="10817352" cy="109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Casualty Large: +GBP 8.3m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Large: +GBP 3.7m in the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•  Property Cat: +GBP 1.3m in the quarter.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ALTERNATIVE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Reserves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Total reserve of GBP 640m by Region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Q2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2026 Q1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Movement (GBP m)</a:t>
                      </a:r>
                    </a:p>
                  </a:txBody>
                  <a:tcPr anchor="ctr">
                    <a:solidFill>
                      <a:srgbClr val="1C5CA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UK and Ireland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304.4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292.1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12.3</a:t>
                      </a:r>
                    </a:p>
                  </a:txBody>
                  <a:tcPr anchor="ctr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Continental Europe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218.5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209.5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5F5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International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117.1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112.4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defRPr sz="1000" b="0">
                          <a:solidFill>
                            <a:srgbClr val="141412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3017520"/>
          <a:ext cx="91440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6072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The same reserves can be aggregated by Reserving Class, Finance Class, Region, Business Unit, Loss Type, Entity or Accident Year; Region is shown here as the management view for this quarter.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UNCERTAINTIES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Key Uncertainties and Areas of Focus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Qualitative areas of focus from the actuarial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10817352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1. Casualty remains the dominant uncertainty: recent accident years have been strengthened materially and further adverse emergence cannot be ruled out.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2. Three Casualty selections and one Property selection changed projection method this quarter; the revised basis will be reassessed next quarter.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3. The claims inflation assumption for Casualty has been raised to 5.5%; sensitivity to this assumption is significant for immature years.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00">
                <a:solidFill>
                  <a:srgbClr val="141412"/>
                </a:solidFill>
                <a:latin typeface="Segoe UI"/>
              </a:defRPr>
            </a:pPr>
            <a:r>
              <a:t>4. A management loading is held for two late-reported large liability claims still under 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C5C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1C5CA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16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2"/>
                </a:solidFill>
                <a:latin typeface="Segoe UI"/>
              </a:defRPr>
            </a:pPr>
            <a:r>
              <a:t>Conclusion and Next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2514E"/>
                </a:solidFill>
                <a:latin typeface="Segoe UI"/>
              </a:defRPr>
            </a:pPr>
            <a:r>
              <a:t>Overall reserve conclusion and forward focus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Reserves increased GBP 26m to GBP 640m, led by Casualty. The strengthening responds to sustained adverse emergence; the next review will focus on whether the revised basis is holding.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08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52514E"/>
                </a:solidFill>
                <a:latin typeface="Segoe UI"/>
              </a:defRPr>
            </a:pPr>
            <a:r>
              <a:t>This review has been prepared by the actuarial function for management and Board use. Selections reflect actuarial judgement applied to the data available at the valuation date; they will be reassessed at the next quarterly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2880360" cy="914400"/>
          </a:xfrm>
          <a:prstGeom prst="rect">
            <a:avLst/>
          </a:prstGeom>
          <a:solidFill>
            <a:srgbClr val="E8EFF8"/>
          </a:solidFill>
          <a:ln w="6350">
            <a:solidFill>
              <a:srgbClr val="E3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98781"/>
                </a:solidFill>
                <a:latin typeface="Segoe UI"/>
              </a:defRPr>
            </a:pPr>
            <a:r>
              <a:t>Total reserve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C5CAB"/>
                </a:solidFill>
                <a:latin typeface="Segoe UI"/>
              </a:defRPr>
            </a:pPr>
            <a:r>
              <a:t>GBP 640m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46520"/>
            <a:ext cx="11091672" cy="13716"/>
          </a:xfrm>
          <a:prstGeom prst="rect">
            <a:avLst/>
          </a:prstGeom>
          <a:solidFill>
            <a:srgbClr val="E3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98781"/>
                </a:solidFill>
                <a:latin typeface="Segoe UI"/>
              </a:defRPr>
            </a:pPr>
            <a:r>
              <a:t>2026 Q2 Reserve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98781"/>
                </a:solidFill>
                <a:latin typeface="Segoe UI"/>
              </a:defRPr>
            </a:pPr>
            <a:r>
              <a:t>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