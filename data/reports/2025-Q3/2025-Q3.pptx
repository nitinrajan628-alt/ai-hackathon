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Q3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212.0</c:v>
                </c:pt>
                <c:pt idx="1">
                  <c:v>146.0</c:v>
                </c:pt>
                <c:pt idx="2">
                  <c:v>150.0</c:v>
                </c:pt>
                <c:pt idx="3">
                  <c:v>98.0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Q2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208.0</c:v>
                </c:pt>
                <c:pt idx="1">
                  <c:v>142.0</c:v>
                </c:pt>
                <c:pt idx="2">
                  <c:v>150.0</c:v>
                </c:pt>
                <c:pt idx="3">
                  <c:v>98.0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Movement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4.0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Q3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525.5</c:v>
                </c:pt>
                <c:pt idx="1">
                  <c:v>1170.4</c:v>
                </c:pt>
                <c:pt idx="2">
                  <c:v>1057.5</c:v>
                </c:pt>
                <c:pt idx="3">
                  <c:v>313.2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Q3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440.3</c:v>
                </c:pt>
                <c:pt idx="1">
                  <c:v>1030.0</c:v>
                </c:pt>
                <c:pt idx="2">
                  <c:v>889.8</c:v>
                </c:pt>
                <c:pt idx="3">
                  <c:v>267.7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Q3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6.5</c:v>
                </c:pt>
                <c:pt idx="1">
                  <c:v>8.3</c:v>
                </c:pt>
                <c:pt idx="2">
                  <c:v>10.6</c:v>
                </c:pt>
                <c:pt idx="3">
                  <c:v>13.5</c:v>
                </c:pt>
                <c:pt idx="4">
                  <c:v>22.3</c:v>
                </c:pt>
                <c:pt idx="5">
                  <c:v>28.2</c:v>
                </c:pt>
                <c:pt idx="6">
                  <c:v>37.6</c:v>
                </c:pt>
                <c:pt idx="7">
                  <c:v>46.7</c:v>
                </c:pt>
                <c:pt idx="8">
                  <c:v>38.2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Q2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7.0</c:v>
                </c:pt>
                <c:pt idx="1">
                  <c:v>9.0</c:v>
                </c:pt>
                <c:pt idx="2">
                  <c:v>11.5</c:v>
                </c:pt>
                <c:pt idx="3">
                  <c:v>14.7</c:v>
                </c:pt>
                <c:pt idx="4">
                  <c:v>22.8</c:v>
                </c:pt>
                <c:pt idx="5">
                  <c:v>28.9</c:v>
                </c:pt>
                <c:pt idx="6">
                  <c:v>38.5</c:v>
                </c:pt>
                <c:pt idx="7">
                  <c:v>47.9</c:v>
                </c:pt>
                <c:pt idx="8">
                  <c:v>27.7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Q3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Sheet1!$A$2:$A$4</c:f>
              <c:strCache>
                <c:ptCount val="3"/>
                <c:pt idx="0">
                  <c:v>UK and Ireland</c:v>
                </c:pt>
                <c:pt idx="1">
                  <c:v>Continental Europe</c:v>
                </c:pt>
                <c:pt idx="2">
                  <c:v>International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288.4</c:v>
                </c:pt>
                <c:pt idx="1">
                  <c:v>206.6</c:v>
                </c:pt>
                <c:pt idx="2">
                  <c:v>111.0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5C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2025 Q3</a:t>
            </a:r>
          </a:p>
          <a:p>
            <a:pPr>
              <a:defRPr sz="3600" b="0">
                <a:solidFill>
                  <a:srgbClr val="BBD4F0"/>
                </a:solidFill>
                <a:latin typeface="Segoe UI"/>
              </a:defRPr>
            </a:pPr>
            <a:r>
              <a:t>Reserve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4F0"/>
                </a:solidFill>
                <a:latin typeface="Segoe UI"/>
              </a:defRPr>
            </a:pPr>
            <a:r>
              <a:t>Quarterly actuarial reserve review</a:t>
            </a:r>
          </a:p>
          <a:p>
            <a:pPr>
              <a:defRPr sz="1300">
                <a:solidFill>
                  <a:srgbClr val="BBD4F0"/>
                </a:solidFill>
                <a:latin typeface="Segoe UI"/>
              </a:defRPr>
            </a:pPr>
            <a:r>
              <a:t>Valuation date: 2025-09-30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Quarterly actuarial reserve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7278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4438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4438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UK; Demo Insurance Europe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3076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Valuation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2025-09-30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4554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1714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1714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reserves increased GBP 8m to GBP 606m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606m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Quarterly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+GBP 8m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Ultimate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3,672.6m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principal increases were Casualty +GBP 4m and Property +GBP 4m.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No projection-method selections changed this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 strengthening is now a material contributor to reserve movement; Property large loss activity is a secondary theme.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Overall Reserve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606m against GBP 598m at 2025 Q2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Current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Prior quarter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212.0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146.0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142.0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606.0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598.0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65760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 Movement in the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Reserves moved from GBP 598m at 2025 Q2 to GBP 606m, a movement of +GBP 8m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519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Reserving Class Commentary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Principal class movements 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Casualty: strengthened GBP 4m. Recent accident years remain the principal focus; strengthening reflects sustained adverse emergence.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Property: strengthened GBP 4m. Large loss development from the September windstorm events is the main driver.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Motor: broadly flat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Marine: broadly flat in the quarter.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Claims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Cumulative paid claims of GBP 3,066.6m, +GBP 438.8m year-on-year (2024 Q3)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Q3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 Q3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Change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525.5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440.3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85.1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1,170.4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1,030.0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140.5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1,057.5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889.8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167.8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313.2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267.7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45.5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3375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Assumption and Methodology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No projection-method changes since 2025 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A management loading of GBP 1.5m is held for Property Cat accident year 2025 (Demo Insurance UK).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CLASS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Casualty Reserve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Casualty reserve of GBP 212m, +GBP 4m in the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519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Accident years 2023 to 2025 contribute +GBP 8.5m of the +GBP 4m movement.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largest single accident-year movement is 2025 at +GBP 10.6m.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Recent accident years remain the principal focus; strengthening reflects sustained adverse emergence.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LARGE AND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Large and Cat Loss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Large and Cat reserves of GBP 252.6m, +GBP 6.6m in the quarter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8229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Loss Type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98.8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42.8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27.7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31.5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36.5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97764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 Large: +GBP 4m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 Large: +GBP 1.9m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 Cat: +GBP 0.8m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Development on the September 2025 windstorm events is the principal large-loss theme this quarter.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ALTERNATIVE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Reserves by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606m by Region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Q3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Q2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UK and Ireland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288.4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284.8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3.6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Continental Europe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206.6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203.7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2.9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International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111.0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109.5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01752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The same reserves can be aggregated by Reserving Class, Finance Class, Region, Business Unit, Loss Type, Entity or Accident Year; Region is shown here as the management view for this quarter.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UNCERTAINTIES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Key Uncertainties and Areas of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Qualitative areas of focus from the actuarial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1. Casualty strengthening is now material; the principal uncertainty is whether recent accident years have been strengthened sufficiently.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2. September windstorm events have increased Property large and catastrophe reserves; a management loading is held pending settlement.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3. Claims inflation remains elevated for liability classes.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Conclusion and Next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 conclusion and forward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Casualty strengthening and Property large loss development are the principal themes. Both will be revisited at the year-end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This review has been prepared by the actuarial function for management and Board use. Selections reflect actuarial judgement applied to the data available at the valuation date; they will be reassessed at the next quarterly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606m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Q3 Reserve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